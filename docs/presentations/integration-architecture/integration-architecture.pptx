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58A6FF"/>
                </a:solidFill>
              </a:defRPr>
            </a:pPr>
            <a:r>
              <a:t>Banking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6EDF3"/>
                </a:solidFill>
              </a:defRPr>
            </a:pPr>
            <a:r>
              <a:t>Wallace Espindola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9C0FF"/>
                </a:solidFill>
              </a:defRPr>
            </a:pPr>
            <a:r>
              <a:t>2026-02-24 | Banking, Integration, Kafka, Oracle, CDC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Integration Scenario &amp; Payload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Throughput Analysis (5 Streams)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Integration Options (Streaming, API, 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Oracle-to-Oracle Architecture &amp; Latency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199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Banking Maturity Model &amp; Golden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1. Integration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5 topics/streams with the following message profile: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100 fields per message, 10 characters per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Raw payload: 100 x 10 = 1,000 bytes (1 KB)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Traffic rates: 100 / 1K / 10K / 100K msgs/min/stream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Total across 5 streams: 500 to 500,000 msgs/min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Message Size by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Each protocol adds overhead on top of the raw 1 KB payload: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Kafka + Avro: 1,185 B (18.5% overhead) - most efficient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Pulsar + Avro: 1,250 B (25.0% overhead)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gRPC + Protobuf: 1,300 B (30.0% overhead)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REST + Protobuf: 1,900 B (90.0% overhead) - least efficient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Protocol Overhead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Where do the extra bytes come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Avro binary encoding: ~100 B (field lengths + schema fingerprint)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Kafka record framing: ~85 B (timestamp, key, headers, CRC)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Pulsar metadata: ~150 B (publish time, sequence ID, properties)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Protobuf encoding: ~200-300 B (field tags + length delimiters)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199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REST/HTTP headers: ~600-700 B (Content-Type, Host, etc.)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2. Throughput Analysis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Formula: MB/min = total_msgs x msg_size / 1,000,000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100/min/stream -&gt; 500 total: 0.59 MB/min (Kafka+Avro)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1K/min/stream -&gt; 5,000 total: 5.93 MB/min (Kafka+Avro)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10K/min/stream -&gt; 50,000 total: 59.25 MB/min (Kafka+Avro)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100K/min/stream -&gt; 500,000 total: 592.5 MB/min (Kafka+Avro)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Bandwidth at Peak (100K msgs/min/stream)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At 500K msgs/min across 5 streams: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Kafka+Avro: 592.5 MB/min | 35.6 GB/hr | ~79 Mbps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Pulsar+Avro: 625 MB/min | 37.5 GB/hr | ~83 Mbps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gRPC+Protobuf: 650 MB/min | 39 GB/hr | ~87 Mbps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REST+Protobuf: 950 MB/min | 57 GB/hr | ~127 Mbps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199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Kafka+Avro needs ~79 Mbps - well within 1 Gbps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3. Integration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Three categories of integration approaches: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Streaming: Kafka+Avro, Pulsar, Redpanda, NATS, RabbitMQ, Redis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API: gRPC+Protobuf, REST+Protobuf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Database: Kafka Connect+CDC, Oracle GoldenGate, Data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9C0FF"/>
                </a:solidFill>
              </a:defRPr>
            </a:pPr>
            <a:r>
              <a:t>Code: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0D1117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Monaco"/>
              </a:defRPr>
            </a:pPr>
            <a:r>
              <a:t>Oracle (Write DB)</a:t>
            </a:r>
            <a:br/>
            <a:r>
              <a:t>      |</a:t>
            </a:r>
            <a:br/>
            <a:r>
              <a:t>      v</a:t>
            </a:r>
            <a:br/>
            <a:r>
              <a:t>  CDC (Debezium / GoldenGate)</a:t>
            </a:r>
            <a:br/>
            <a:r>
              <a:t>      |</a:t>
            </a:r>
            <a:br/>
            <a:r>
              <a:t>      v</a:t>
            </a:r>
            <a:br/>
            <a:r>
              <a:t>  Kafka / Event Backbone</a:t>
            </a:r>
            <a:br/>
            <a:r>
              <a:t>      |</a:t>
            </a:r>
            <a:br/>
            <a:r>
              <a:t>      v</a:t>
            </a:r>
            <a:br/>
            <a:r>
              <a:t>Oracle (Read DB)</a:t>
            </a:r>
            <a:br/>
            <a:br/>
            <a:r>
              <a:t>Guarantees:</a:t>
            </a:r>
            <a:br/>
            <a:r>
              <a:t>  - Idempotency</a:t>
            </a:r>
            <a:br/>
            <a:r>
              <a:t>  - Sequence numbers for ordering</a:t>
            </a:r>
            <a:br/>
            <a:r>
              <a:t>  - Schema Registry governance</a:t>
            </a:r>
            <a:br/>
            <a:br/>
            <a:r>
              <a:t>Principles:</a:t>
            </a:r>
            <a:br/>
            <a:r>
              <a:t>  - Single writer</a:t>
            </a:r>
            <a:br/>
            <a:r>
              <a:t>  - Upsert sinks</a:t>
            </a:r>
            <a:br/>
            <a:r>
              <a:t>  - Replay capability</a:t>
            </a:r>
            <a:br/>
            <a:r>
              <a:t>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5. Latency Factor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Baseline: Factor 1 = Same database (write + read, &lt; 1 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Oracle RAC: 1-2x (1-2 ms) | Data Guard: 5-50x (5-50 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GoldenGate: 2-30x (2-30 ms) | Kafka CDC: 10-100x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gRPC Streaming: 1-10x (1-10 ms) | REST API: 2-40x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DB Polling: 50-3,000+x (50 ms to 3+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199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gRPC Streaming offers lowest latency for API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6. Banking Industry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Banks optimize for four core principles: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Determinism - predictable, reproducible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Auditability - full traceability of every transaction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Replayability - reconstruct state from event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Isolation - failure containment, no cascading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Most Typical Banking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Three layers form the foundation: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System of Record: Oracle Database + Data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Integration: GoldenGate / CDC + Kafka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Consumption: APIs, Fraud systems, Analytics,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7. Banking Integration Maturity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Six levels of integration maturity: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Level 0: Shared DB (simple, tightly coupled)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Level 1: DB Replication (Data Guard HA/DR)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Level 2: CDC Integration (Oracle -&gt; Kafka -&gt; Consumers)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Level 3: Event Backbone (enterprise streaming)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199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Level 4-5: Domain Events / Streaming Bank (event-driven)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8. Five Banking Architecture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Common pitfalls and their solutions: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1. Dual writes without coordination -&gt; inconsistency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2. Treating replication as integration -&gt; tight 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3. No replay/audit capability -&gt; cannot reconstruct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4. Expecting exactly-once delivery -&gt; a transport myth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199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5. Latency coupling assumptions -&gt; downstream is not constant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The Banking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Three principles to avoid the five mistakes: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At-least-once delivery (never lose a message)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Idempotent consumers (safe to process duplicates)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Ordered events (deterministic state reconstruction)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9C0FF"/>
                </a:solidFill>
              </a:defRPr>
            </a:pPr>
            <a:r>
              <a:t>Code: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0D1117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Monaco"/>
              </a:defRPr>
            </a:pPr>
            <a:r>
              <a:t>    Golden Triangle of Banking Architecture</a:t>
            </a:r>
            <a:br/>
            <a:br/>
            <a:r>
              <a:t>    +---------------------------+</a:t>
            </a:r>
            <a:br/>
            <a:r>
              <a:t>    |  Experience Layer (APIs)   |  &lt;- Agility</a:t>
            </a:r>
            <a:br/>
            <a:r>
              <a:t>    +-------------+-------------+</a:t>
            </a:r>
            <a:br/>
            <a:r>
              <a:t>                  |</a:t>
            </a:r>
            <a:br/>
            <a:r>
              <a:t>    +-------------v-------------+</a:t>
            </a:r>
            <a:br/>
            <a:r>
              <a:t>    | Integration Backbone       |  &lt;- Decoupling</a:t>
            </a:r>
            <a:br/>
            <a:r>
              <a:t>    |       (Kafka)              |</a:t>
            </a:r>
            <a:br/>
            <a:r>
              <a:t>    +-------------+-------------+</a:t>
            </a:r>
            <a:br/>
            <a:r>
              <a:t>                  |</a:t>
            </a:r>
            <a:br/>
            <a:r>
              <a:t>    +-------------v-------------+</a:t>
            </a:r>
            <a:br/>
            <a:r>
              <a:t>    |  System of Record          |  &lt;- Correctness</a:t>
            </a:r>
            <a:br/>
            <a:r>
              <a:t>    |      (Oracle)              |</a:t>
            </a:r>
            <a:br/>
            <a:r>
              <a:t>    +---------------------------+</a:t>
            </a:r>
            <a:br/>
            <a:br/>
            <a:r>
              <a:t>Oracle -&gt; correctness &amp; transactional integrity</a:t>
            </a:r>
            <a:br/>
            <a:r>
              <a:t>Kafka  -&gt; decoupling &amp; event distribution</a:t>
            </a:r>
            <a:br/>
            <a:r>
              <a:t>APIs   -&gt; agility &amp; consumer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10. Final Architectural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EDF3"/>
                </a:solidFill>
              </a:defRPr>
            </a:pPr>
            <a:r>
              <a:t>Architecture aligns with modern Tier-1 banking patterns: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Oracle as system of record with one-direction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CDC replication feeding an event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Idempotent processing with schema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DF3"/>
                </a:solidFill>
              </a:defRPr>
            </a:pPr>
            <a:r>
              <a:t>• Corresponds to Banking Maturity Level 2-3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EDF3"/>
                </a:solidFill>
              </a:defRPr>
            </a:pPr>
            <a:r>
              <a:t>✓ Kafka + Avro is the most efficient wire protocol (18.5% overhead)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EDF3"/>
                </a:solidFill>
              </a:defRPr>
            </a:pPr>
            <a:r>
              <a:t>✓ CDC + Event Backbone is the standard banking integration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EDF3"/>
                </a:solidFill>
              </a:defRPr>
            </a:pPr>
            <a:r>
              <a:t>✓ Design for idempotency, ordering, and replay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EDF3"/>
                </a:solidFill>
              </a:defRPr>
            </a:pPr>
            <a:r>
              <a:t>✓ Avoid dual writes and exactly-once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EDF3"/>
                </a:solidFill>
              </a:defRPr>
            </a:pPr>
            <a:r>
              <a:t>✓ Target Maturity Level 2-3 for modern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79C0FF"/>
                </a:solidFill>
              </a:defRPr>
            </a:pPr>
            <a:r>
              <a:t>Wallace Espindola | github.com/wallaceespindola | linkedin.com/in/wallaceespindola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6EDF3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Integration Architecture</dc:title>
  <dc:subject>Banking Integration Architecture - Full Context Summary</dc:subject>
  <dc:creator>Wallace Espindola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